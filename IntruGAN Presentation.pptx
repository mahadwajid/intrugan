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316" r:id="rId2"/>
    <p:sldId id="282" r:id="rId3"/>
    <p:sldId id="283" r:id="rId4"/>
    <p:sldId id="285" r:id="rId5"/>
    <p:sldId id="287" r:id="rId6"/>
    <p:sldId id="298" r:id="rId7"/>
    <p:sldId id="291" r:id="rId8"/>
    <p:sldId id="294" r:id="rId9"/>
    <p:sldId id="306" r:id="rId10"/>
    <p:sldId id="307" r:id="rId11"/>
    <p:sldId id="308" r:id="rId12"/>
    <p:sldId id="309" r:id="rId13"/>
    <p:sldId id="310" r:id="rId14"/>
    <p:sldId id="311" r:id="rId15"/>
    <p:sldId id="312" r:id="rId16"/>
    <p:sldId id="313" r:id="rId17"/>
    <p:sldId id="314" r:id="rId18"/>
    <p:sldId id="275" r:id="rId19"/>
    <p:sldId id="299" r:id="rId20"/>
    <p:sldId id="31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72157" autoAdjust="0"/>
  </p:normalViewPr>
  <p:slideViewPr>
    <p:cSldViewPr snapToGrid="0">
      <p:cViewPr varScale="1">
        <p:scale>
          <a:sx n="69" d="100"/>
          <a:sy n="69" d="100"/>
        </p:scale>
        <p:origin x="127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D4BE-1D56-99B7-AB9E-102064FBB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08192-AC1E-3C59-CD97-02608776C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5A4B2-5D4B-C183-C78E-65CC4D2960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C70650-C514-75CA-839A-491DDD36DC1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74825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 phone, your car, your fridge, and even your watch — all connected and communicating with each other. That’s what IoT is all about. It connects billions of smart devices across the world, making our homes, cities, and industries smarter and more efficient. In this presentation, I’ll explain how IoT works, why it’s important, and why securing it is a big challenge.”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25713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seen how IoT connects many devices, let’s talk about how we protect them. One key tool is the Intrusion Detection System, or IDS. Think of it like a smart security guard that watches the network and warns us if something suspicious happens.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50372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big challenge in IoT security is that most of the data is normal, and only a little is dangerous. This imbalance confuses machine learning models, which can lead to missed threats or poor performance.</a:t>
            </a:r>
          </a:p>
          <a:p>
            <a:r>
              <a:rPr lang="en-US" b="1" dirty="0"/>
              <a:t>Oversampling</a:t>
            </a:r>
            <a:r>
              <a:rPr lang="en-US" dirty="0"/>
              <a:t> means adding more copies of the minority class (rare attack data) so that the dataset becomes balanced.</a:t>
            </a:r>
          </a:p>
          <a:p>
            <a:r>
              <a:rPr lang="en-US" b="1" dirty="0"/>
              <a:t>Undersampling</a:t>
            </a:r>
            <a:r>
              <a:rPr lang="en-US" dirty="0"/>
              <a:t> means removing some of the majority class (normal data) so that both classes have similar amounts.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0586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IoT security, we can use GANs to create fake malicious data that looks real. This helps balance the dataset and train the IDS better. As a result, the IDS becomes more accurate and more prepared to catch real attacks.</a:t>
            </a:r>
          </a:p>
          <a:p>
            <a:r>
              <a:rPr lang="en-US" dirty="0"/>
              <a:t>We found that the baseline GAN had major issues like lack of diversity, poor handling of rare attacks, and unstable training. To solve these, we proposed our own advanced model — ReMWGAN-FM — which uses multiple generators, reweighting, and feature matching to produce better and more balanced synthetic data.</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5385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propose a new and improved GAN model called </a:t>
            </a:r>
            <a:r>
              <a:rPr lang="en-US" b="1" dirty="0"/>
              <a:t>Reweighted Multi-Generator Wasserstein GAN with Feature Matching (ReMWGAN-FM)</a:t>
            </a:r>
            <a:r>
              <a:rPr lang="en-US" dirty="0"/>
              <a:t>. It uses multiple generators to create more diverse and realistic attack samples. It also gives more importance (reweighting) to rare attack types so the model doesn’t ignore them. The </a:t>
            </a:r>
            <a:r>
              <a:rPr lang="en-US" b="1" dirty="0"/>
              <a:t>Wasserstein loss</a:t>
            </a:r>
            <a:r>
              <a:rPr lang="en-US" dirty="0"/>
              <a:t> helps the training stay stable, and </a:t>
            </a:r>
            <a:r>
              <a:rPr lang="en-US" b="1" dirty="0"/>
              <a:t>Feature Matching</a:t>
            </a:r>
            <a:r>
              <a:rPr lang="en-US" dirty="0"/>
              <a:t> ensures the fake data looks more like the real data. Overall, this model improves the balance, quality, and usefulness of the training data for IDS.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574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pPr/>
              <a:t>18</a:t>
            </a:fld>
            <a:endParaRPr lang="en-US"/>
          </a:p>
        </p:txBody>
      </p:sp>
    </p:spTree>
    <p:extLst>
      <p:ext uri="{BB962C8B-B14F-4D97-AF65-F5344CB8AC3E}">
        <p14:creationId xmlns:p14="http://schemas.microsoft.com/office/powerpoint/2010/main" val="3693194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L="0" marR="0" lvl="0" indent="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457200" marR="0" lvl="1" indent="0"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914400" marR="0" lvl="2" indent="0"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371600" marR="0" lvl="3"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1828800" marR="0" lvl="4"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Clr>
                <a:schemeClr val="dk1"/>
              </a:buClr>
              <a:buSzPts val="1400"/>
              <a:buFont typeface="Calibri"/>
              <a:buNone/>
              <a:defRPr sz="4000" b="1"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00"/>
              </a:spcBef>
              <a:spcAft>
                <a:spcPts val="0"/>
              </a:spcAft>
              <a:buClr>
                <a:srgbClr val="888888"/>
              </a:buClr>
              <a:buSzPts val="32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2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24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80"/>
              </a:spcBef>
              <a:spcAft>
                <a:spcPts val="0"/>
              </a:spcAft>
              <a:buClr>
                <a:schemeClr val="dk1"/>
              </a:buClr>
              <a:buSzPts val="32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Clr>
                <a:schemeClr val="dk1"/>
              </a:buClr>
              <a:buSzPts val="1400"/>
              <a:buFont typeface="Calibri"/>
              <a:buNone/>
              <a:defRPr sz="2000" b="1"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Clr>
                <a:schemeClr val="dk1"/>
              </a:buClr>
              <a:buSzPts val="1400"/>
              <a:buFont typeface="Calibri"/>
              <a:buNone/>
              <a:defRPr sz="2000" b="1"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noAutofit/>
          </a:bodyPr>
          <a:lstStyle>
            <a:lvl1pPr marL="0" marR="0" lvl="0" indent="0" algn="l" rtl="0">
              <a:spcBef>
                <a:spcPts val="640"/>
              </a:spcBef>
              <a:spcAft>
                <a:spcPts val="0"/>
              </a:spcAft>
              <a:buClr>
                <a:schemeClr val="dk1"/>
              </a:buClr>
              <a:buSzPts val="1400"/>
              <a:buFont typeface="Arial"/>
              <a:buNone/>
              <a:defRPr sz="3200" b="0" i="0" u="none" strike="noStrike" cap="none">
                <a:solidFill>
                  <a:schemeClr val="dk1"/>
                </a:solidFill>
                <a:latin typeface="Calibri"/>
                <a:ea typeface="Calibri"/>
                <a:cs typeface="Calibri"/>
                <a:sym typeface="Calibri"/>
              </a:defRPr>
            </a:lvl1pPr>
            <a:lvl2pPr marL="457200" marR="0" lvl="1" indent="0" algn="l" rtl="0">
              <a:spcBef>
                <a:spcPts val="560"/>
              </a:spcBef>
              <a:spcAft>
                <a:spcPts val="0"/>
              </a:spcAft>
              <a:buClr>
                <a:schemeClr val="dk1"/>
              </a:buClr>
              <a:buSzPts val="1400"/>
              <a:buFont typeface="Arial"/>
              <a:buNone/>
              <a:defRPr sz="2800" b="0" i="0" u="none" strike="noStrike" cap="none">
                <a:solidFill>
                  <a:schemeClr val="dk1"/>
                </a:solidFill>
                <a:latin typeface="Calibri"/>
                <a:ea typeface="Calibri"/>
                <a:cs typeface="Calibri"/>
                <a:sym typeface="Calibri"/>
              </a:defRPr>
            </a:lvl2pPr>
            <a:lvl3pPr marL="914400" marR="0" lvl="2" indent="0" algn="l" rtl="0">
              <a:spcBef>
                <a:spcPts val="480"/>
              </a:spcBef>
              <a:spcAft>
                <a:spcPts val="0"/>
              </a:spcAft>
              <a:buClr>
                <a:schemeClr val="dk1"/>
              </a:buClr>
              <a:buSzPts val="1400"/>
              <a:buFont typeface="Arial"/>
              <a:buNone/>
              <a:defRPr sz="2400" b="0" i="0" u="none" strike="noStrike" cap="none">
                <a:solidFill>
                  <a:schemeClr val="dk1"/>
                </a:solidFill>
                <a:latin typeface="Calibri"/>
                <a:ea typeface="Calibri"/>
                <a:cs typeface="Calibri"/>
                <a:sym typeface="Calibri"/>
              </a:defRPr>
            </a:lvl3pPr>
            <a:lvl4pPr marL="1371600" marR="0" lvl="3"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4pPr>
            <a:lvl5pPr marL="1828800" marR="0" lvl="4"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5pPr>
            <a:lvl6pPr marL="2286000" marR="0" lvl="5"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280"/>
              </a:spcBef>
              <a:spcAft>
                <a:spcPts val="0"/>
              </a:spcAft>
              <a:buClr>
                <a:schemeClr val="dk1"/>
              </a:buClr>
              <a:buSzPts val="32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1670-CF89-5D21-EF44-A95580E6B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C168C-8F22-FE6A-0C8C-DD0D11E57464}"/>
              </a:ext>
            </a:extLst>
          </p:cNvPr>
          <p:cNvSpPr>
            <a:spLocks noGrp="1"/>
          </p:cNvSpPr>
          <p:nvPr>
            <p:ph type="ctrTitle"/>
          </p:nvPr>
        </p:nvSpPr>
        <p:spPr>
          <a:xfrm>
            <a:off x="685800" y="716289"/>
            <a:ext cx="7772400" cy="1470025"/>
          </a:xfrm>
        </p:spPr>
        <p:txBody>
          <a:bodyPr/>
          <a:lstStyle/>
          <a:p>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37CAF7-F9E4-0442-9B49-DB9F5E3C6C5F}"/>
              </a:ext>
            </a:extLst>
          </p:cNvPr>
          <p:cNvSpPr>
            <a:spLocks noGrp="1"/>
          </p:cNvSpPr>
          <p:nvPr>
            <p:ph type="subTitle" idx="1"/>
          </p:nvPr>
        </p:nvSpPr>
        <p:spPr>
          <a:xfrm>
            <a:off x="2018515" y="2986246"/>
            <a:ext cx="5106970" cy="2539682"/>
          </a:xfrm>
        </p:spPr>
        <p:txBody>
          <a:bodyPr>
            <a:normAutofit/>
          </a:bodyPr>
          <a:lstStyle/>
          <a:p>
            <a:endParaRPr lang="en-PK" sz="18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0406A4D-1773-D1D5-860A-60484B700EF7}"/>
              </a:ext>
            </a:extLst>
          </p:cNvPr>
          <p:cNvSpPr>
            <a:spLocks noGrp="1"/>
          </p:cNvSpPr>
          <p:nvPr>
            <p:ph type="sldNum" sz="quarter" idx="12"/>
          </p:nvPr>
        </p:nvSpPr>
        <p:spPr/>
        <p:txBody>
          <a:bodyPr/>
          <a:lstStyle/>
          <a:p>
            <a:fld id="{DC2A8C5E-5ACC-4DAB-B41C-5718F8C58B6D}" type="slidenum">
              <a:rPr lang="en-US" b="1" smtClean="0">
                <a:solidFill>
                  <a:schemeClr val="tx1"/>
                </a:solidFill>
                <a:latin typeface="Times New Roman" panose="02020603050405020304" pitchFamily="18" charset="0"/>
                <a:cs typeface="Times New Roman" panose="02020603050405020304" pitchFamily="18" charset="0"/>
              </a:rPr>
              <a:pPr/>
              <a:t>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6236E9EE-7301-DD30-9428-AF9AE2AF6022}"/>
              </a:ext>
            </a:extLst>
          </p:cNvPr>
          <p:cNvSpPr txBox="1">
            <a:spLocks/>
          </p:cNvSpPr>
          <p:nvPr/>
        </p:nvSpPr>
        <p:spPr>
          <a:xfrm>
            <a:off x="1371600" y="6289357"/>
            <a:ext cx="6400800" cy="475688"/>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2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E05EE27-A5F8-E027-0A30-B9737A20F5FC}"/>
              </a:ext>
            </a:extLst>
          </p:cNvPr>
          <p:cNvPicPr>
            <a:picLocks noChangeAspect="1"/>
          </p:cNvPicPr>
          <p:nvPr/>
        </p:nvPicPr>
        <p:blipFill>
          <a:blip r:embed="rId3"/>
          <a:stretch>
            <a:fillRect/>
          </a:stretch>
        </p:blipFill>
        <p:spPr>
          <a:xfrm>
            <a:off x="1449659" y="0"/>
            <a:ext cx="6322741" cy="6858000"/>
          </a:xfrm>
          <a:prstGeom prst="rect">
            <a:avLst/>
          </a:prstGeom>
        </p:spPr>
      </p:pic>
    </p:spTree>
    <p:extLst>
      <p:ext uri="{BB962C8B-B14F-4D97-AF65-F5344CB8AC3E}">
        <p14:creationId xmlns:p14="http://schemas.microsoft.com/office/powerpoint/2010/main" val="2937021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nternet of Things (IoT): definition, how it works | Myra">
            <a:extLst>
              <a:ext uri="{FF2B5EF4-FFF2-40B4-BE49-F238E27FC236}">
                <a16:creationId xmlns:a16="http://schemas.microsoft.com/office/drawing/2014/main" id="{A7FE9E19-0ACA-9C3E-E83D-E1895AB7D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328" y="2140389"/>
            <a:ext cx="5057775" cy="37909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889A141-C024-29A2-9218-DC4D377AA16E}"/>
              </a:ext>
            </a:extLst>
          </p:cNvPr>
          <p:cNvSpPr>
            <a:spLocks noGrp="1"/>
          </p:cNvSpPr>
          <p:nvPr>
            <p:ph type="title"/>
          </p:nvPr>
        </p:nvSpPr>
        <p:spPr>
          <a:xfrm>
            <a:off x="157882" y="705945"/>
            <a:ext cx="8522645" cy="653083"/>
          </a:xfrm>
        </p:spPr>
        <p:txBody>
          <a:bodyPr>
            <a:noAutofit/>
          </a:bodyPr>
          <a:lstStyle/>
          <a:p>
            <a:pPr algn="l"/>
            <a:r>
              <a:rPr lang="en-US" b="1" dirty="0">
                <a:latin typeface="Times New Roman" panose="02020603050405020304" pitchFamily="18" charset="0"/>
                <a:cs typeface="Times New Roman" panose="02020603050405020304" pitchFamily="18" charset="0"/>
              </a:rPr>
              <a:t>INTERNET OF  THINGS (IoTs)</a:t>
            </a:r>
            <a:endParaRPr lang="en-PK"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7882" y="1854651"/>
            <a:ext cx="4732244" cy="4297404"/>
          </a:xfrm>
        </p:spPr>
        <p:txBody>
          <a:bodyPr>
            <a:normAutofit fontScale="92500"/>
          </a:bodyPr>
          <a:lstStyle/>
          <a:p>
            <a:pPr>
              <a:defRPr sz="2000"/>
            </a:pPr>
            <a:r>
              <a:rPr lang="en-US" sz="2800" dirty="0">
                <a:latin typeface="Times New Roman" panose="02020603050405020304" pitchFamily="18" charset="0"/>
                <a:cs typeface="Times New Roman" panose="02020603050405020304" pitchFamily="18" charset="0"/>
              </a:rPr>
              <a:t>IoT connects billions of devices globally (sensors, machines, appliances)</a:t>
            </a:r>
          </a:p>
          <a:p>
            <a:pPr>
              <a:defRPr sz="2000"/>
            </a:pPr>
            <a:r>
              <a:rPr lang="en-US" sz="2800" dirty="0">
                <a:latin typeface="Times New Roman" panose="02020603050405020304" pitchFamily="18" charset="0"/>
                <a:cs typeface="Times New Roman" panose="02020603050405020304" pitchFamily="18" charset="0"/>
              </a:rPr>
              <a:t>Generates huge real-time network traffic</a:t>
            </a:r>
          </a:p>
          <a:p>
            <a:pPr>
              <a:defRPr sz="2000"/>
            </a:pPr>
            <a:r>
              <a:rPr lang="en-US" sz="2800" dirty="0">
                <a:latin typeface="Times New Roman" panose="02020603050405020304" pitchFamily="18" charset="0"/>
                <a:cs typeface="Times New Roman" panose="02020603050405020304" pitchFamily="18" charset="0"/>
              </a:rPr>
              <a:t>Important for smart cities, healthcare, industry</a:t>
            </a:r>
          </a:p>
          <a:p>
            <a:pPr>
              <a:defRPr sz="2000"/>
            </a:pPr>
            <a:r>
              <a:rPr lang="en-US" sz="2800" dirty="0">
                <a:latin typeface="Times New Roman" panose="02020603050405020304" pitchFamily="18" charset="0"/>
                <a:cs typeface="Times New Roman" panose="02020603050405020304" pitchFamily="18" charset="0"/>
              </a:rPr>
              <a:t>Securing this traffic is critical to prevent cyber threats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979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Tripwire Intrusion Detection Vectors - Download Free High-Quality Vectors  from Freepik | Freepik">
            <a:extLst>
              <a:ext uri="{FF2B5EF4-FFF2-40B4-BE49-F238E27FC236}">
                <a16:creationId xmlns:a16="http://schemas.microsoft.com/office/drawing/2014/main" id="{F9292711-FBD8-CAC9-5CD6-C0FF208BE3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1715678"/>
            <a:ext cx="4354938" cy="43549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CBE187D-7F75-2C3A-8A3F-CBC4C3ADB6AD}"/>
              </a:ext>
            </a:extLst>
          </p:cNvPr>
          <p:cNvSpPr>
            <a:spLocks noGrp="1"/>
          </p:cNvSpPr>
          <p:nvPr>
            <p:ph type="title"/>
          </p:nvPr>
        </p:nvSpPr>
        <p:spPr/>
        <p:txBody>
          <a:bodyPr/>
          <a:lstStyle/>
          <a:p>
            <a:pPr algn="l"/>
            <a:r>
              <a:rPr lang="en-US" sz="3600" dirty="0">
                <a:latin typeface="Times New Roman" panose="02020603050405020304" pitchFamily="18" charset="0"/>
                <a:cs typeface="Times New Roman" panose="02020603050405020304" pitchFamily="18" charset="0"/>
              </a:rPr>
              <a:t>INTRUSION DETECTION SYSTEM(IDS)</a:t>
            </a:r>
          </a:p>
        </p:txBody>
      </p:sp>
      <p:sp>
        <p:nvSpPr>
          <p:cNvPr id="4" name="Slide Number Placeholder 3">
            <a:extLst>
              <a:ext uri="{FF2B5EF4-FFF2-40B4-BE49-F238E27FC236}">
                <a16:creationId xmlns:a16="http://schemas.microsoft.com/office/drawing/2014/main" id="{9E041710-7A7B-298B-3EC0-6F015CE608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Rectangle 1">
            <a:extLst>
              <a:ext uri="{FF2B5EF4-FFF2-40B4-BE49-F238E27FC236}">
                <a16:creationId xmlns:a16="http://schemas.microsoft.com/office/drawing/2014/main" id="{662B91D4-B85B-6CB9-023E-F9A0CF17BA09}"/>
              </a:ext>
            </a:extLst>
          </p:cNvPr>
          <p:cNvSpPr>
            <a:spLocks noGrp="1" noChangeArrowheads="1"/>
          </p:cNvSpPr>
          <p:nvPr>
            <p:ph type="body" idx="1"/>
          </p:nvPr>
        </p:nvSpPr>
        <p:spPr bwMode="auto">
          <a:xfrm>
            <a:off x="113365" y="2093555"/>
            <a:ext cx="45434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Monitors</a:t>
            </a: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traffic</a:t>
            </a:r>
          </a:p>
          <a:p>
            <a:pPr marL="342900" indent="-3429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suspicious or abnormal behavior</a:t>
            </a:r>
          </a:p>
          <a:p>
            <a:pPr marL="342900" indent="-3429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Alerts or blocks threats like: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Unauthorized access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breaches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DDoS (denial-of-service) attacks</a:t>
            </a:r>
          </a:p>
          <a:p>
            <a:pPr marL="342900" indent="-3429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like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guard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your IoT network</a:t>
            </a:r>
          </a:p>
        </p:txBody>
      </p:sp>
    </p:spTree>
    <p:extLst>
      <p:ext uri="{BB962C8B-B14F-4D97-AF65-F5344CB8AC3E}">
        <p14:creationId xmlns:p14="http://schemas.microsoft.com/office/powerpoint/2010/main" val="3333071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descr="A graph of a number of data&#10;&#10;Description automatically generated">
            <a:extLst>
              <a:ext uri="{FF2B5EF4-FFF2-40B4-BE49-F238E27FC236}">
                <a16:creationId xmlns:a16="http://schemas.microsoft.com/office/drawing/2014/main" id="{FF6EB32A-3041-4FF8-7EF8-8703D015DCCC}"/>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4101084" y="2215298"/>
            <a:ext cx="4904232" cy="3993675"/>
          </a:xfrm>
          <a:prstGeom prst="rect">
            <a:avLst/>
          </a:prstGeom>
        </p:spPr>
      </p:pic>
      <p:sp>
        <p:nvSpPr>
          <p:cNvPr id="2" name="Title 1">
            <a:extLst>
              <a:ext uri="{FF2B5EF4-FFF2-40B4-BE49-F238E27FC236}">
                <a16:creationId xmlns:a16="http://schemas.microsoft.com/office/drawing/2014/main" id="{3C506475-BD85-6CB1-1BFA-7835321E0F9D}"/>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Problem of Imbalanced Data</a:t>
            </a:r>
          </a:p>
        </p:txBody>
      </p:sp>
      <p:sp>
        <p:nvSpPr>
          <p:cNvPr id="4" name="Slide Number Placeholder 3">
            <a:extLst>
              <a:ext uri="{FF2B5EF4-FFF2-40B4-BE49-F238E27FC236}">
                <a16:creationId xmlns:a16="http://schemas.microsoft.com/office/drawing/2014/main" id="{31FECC4C-4B39-4BE8-A4B3-74CE1EBFE3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Rectangle 1">
            <a:extLst>
              <a:ext uri="{FF2B5EF4-FFF2-40B4-BE49-F238E27FC236}">
                <a16:creationId xmlns:a16="http://schemas.microsoft.com/office/drawing/2014/main" id="{64EFBFA5-5D0E-3220-233B-8E5296C72D27}"/>
              </a:ext>
            </a:extLst>
          </p:cNvPr>
          <p:cNvSpPr>
            <a:spLocks noGrp="1" noChangeArrowheads="1"/>
          </p:cNvSpPr>
          <p:nvPr>
            <p:ph type="body" idx="1"/>
          </p:nvPr>
        </p:nvSpPr>
        <p:spPr bwMode="auto">
          <a:xfrm>
            <a:off x="287518" y="2215298"/>
            <a:ext cx="381356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data is highly imbalanced</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models become biased and miss threats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Oversampling causes overfitting</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Undersampling removes useful data</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563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4">
            <a:extLst>
              <a:ext uri="{FF2B5EF4-FFF2-40B4-BE49-F238E27FC236}">
                <a16:creationId xmlns:a16="http://schemas.microsoft.com/office/drawing/2014/main" id="{C604DFA8-22EC-F821-CB94-C92DC51D38E2}"/>
              </a:ext>
            </a:extLst>
          </p:cNvPr>
          <p:cNvPicPr/>
          <p:nvPr/>
        </p:nvPicPr>
        <p:blipFill>
          <a:blip r:embed="rId3" cstate="print"/>
          <a:stretch>
            <a:fillRect/>
          </a:stretch>
        </p:blipFill>
        <p:spPr>
          <a:xfrm>
            <a:off x="3982720" y="1966279"/>
            <a:ext cx="4572000" cy="4078922"/>
          </a:xfrm>
          <a:prstGeom prst="rect">
            <a:avLst/>
          </a:prstGeom>
        </p:spPr>
      </p:pic>
      <p:sp>
        <p:nvSpPr>
          <p:cNvPr id="2" name="Title 1">
            <a:extLst>
              <a:ext uri="{FF2B5EF4-FFF2-40B4-BE49-F238E27FC236}">
                <a16:creationId xmlns:a16="http://schemas.microsoft.com/office/drawing/2014/main" id="{C805FF0D-C8DC-3D7B-819A-468DA7BA0549}"/>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Baseline GAN</a:t>
            </a:r>
          </a:p>
        </p:txBody>
      </p:sp>
      <p:sp>
        <p:nvSpPr>
          <p:cNvPr id="4" name="Slide Number Placeholder 3">
            <a:extLst>
              <a:ext uri="{FF2B5EF4-FFF2-40B4-BE49-F238E27FC236}">
                <a16:creationId xmlns:a16="http://schemas.microsoft.com/office/drawing/2014/main" id="{014A541A-C17F-A0F6-7040-4A6CE00C83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5" name="Rectangle 1">
            <a:extLst>
              <a:ext uri="{FF2B5EF4-FFF2-40B4-BE49-F238E27FC236}">
                <a16:creationId xmlns:a16="http://schemas.microsoft.com/office/drawing/2014/main" id="{6220E27D-3D81-BB54-6D03-539C3C134F47}"/>
              </a:ext>
            </a:extLst>
          </p:cNvPr>
          <p:cNvSpPr>
            <a:spLocks noGrp="1" noChangeArrowheads="1"/>
          </p:cNvSpPr>
          <p:nvPr>
            <p:ph type="body" idx="1"/>
          </p:nvPr>
        </p:nvSpPr>
        <p:spPr bwMode="auto">
          <a:xfrm>
            <a:off x="325120" y="2151690"/>
            <a:ext cx="35560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GAN = Generator + Discriminator</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realistic synthetic malicious samples</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Balances dataset </a:t>
            </a:r>
          </a:p>
          <a:p>
            <a:pPr marL="285750" indent="-28575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IDS accuracy and robustness</a:t>
            </a:r>
          </a:p>
        </p:txBody>
      </p:sp>
    </p:spTree>
    <p:extLst>
      <p:ext uri="{BB962C8B-B14F-4D97-AF65-F5344CB8AC3E}">
        <p14:creationId xmlns:p14="http://schemas.microsoft.com/office/powerpoint/2010/main" val="3788492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D4FEF-4B26-FB7B-CE83-7918A9F3C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E0DD2-DCD0-AFC3-8511-65B463C5634C}"/>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Proposed </a:t>
            </a:r>
            <a:r>
              <a:rPr lang="en-US" dirty="0" err="1"/>
              <a:t>ReMWGAN</a:t>
            </a:r>
            <a:r>
              <a:rPr lang="en-US" dirty="0"/>
              <a:t>-FM GAN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752E03-E7F3-30D9-29FC-6068ABFFBD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9" name="Picture 8">
            <a:extLst>
              <a:ext uri="{FF2B5EF4-FFF2-40B4-BE49-F238E27FC236}">
                <a16:creationId xmlns:a16="http://schemas.microsoft.com/office/drawing/2014/main" id="{0E95B992-773E-B90A-57A0-2002D36C9078}"/>
              </a:ext>
            </a:extLst>
          </p:cNvPr>
          <p:cNvPicPr>
            <a:picLocks noChangeAspect="1"/>
          </p:cNvPicPr>
          <p:nvPr/>
        </p:nvPicPr>
        <p:blipFill>
          <a:blip r:embed="rId3"/>
          <a:srcRect/>
          <a:stretch/>
        </p:blipFill>
        <p:spPr>
          <a:xfrm>
            <a:off x="-1" y="1296237"/>
            <a:ext cx="9045343" cy="5164854"/>
          </a:xfrm>
          <a:prstGeom prst="rect">
            <a:avLst/>
          </a:prstGeom>
        </p:spPr>
      </p:pic>
    </p:spTree>
    <p:extLst>
      <p:ext uri="{BB962C8B-B14F-4D97-AF65-F5344CB8AC3E}">
        <p14:creationId xmlns:p14="http://schemas.microsoft.com/office/powerpoint/2010/main" val="2229299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9217B3-C3F8-C25B-FDBE-8AA0C295A697}"/>
              </a:ext>
            </a:extLst>
          </p:cNvPr>
          <p:cNvPicPr>
            <a:picLocks noChangeAspect="1"/>
          </p:cNvPicPr>
          <p:nvPr/>
        </p:nvPicPr>
        <p:blipFill>
          <a:blip r:embed="rId2"/>
          <a:srcRect r="1584" b="1207"/>
          <a:stretch>
            <a:fillRect/>
          </a:stretch>
        </p:blipFill>
        <p:spPr>
          <a:xfrm>
            <a:off x="547497" y="708636"/>
            <a:ext cx="8139303" cy="5830276"/>
          </a:xfrm>
          <a:prstGeom prst="rect">
            <a:avLst/>
          </a:prstGeom>
        </p:spPr>
      </p:pic>
      <p:sp>
        <p:nvSpPr>
          <p:cNvPr id="2" name="Title 1">
            <a:extLst>
              <a:ext uri="{FF2B5EF4-FFF2-40B4-BE49-F238E27FC236}">
                <a16:creationId xmlns:a16="http://schemas.microsoft.com/office/drawing/2014/main" id="{30FC96E3-D6B3-BAA4-4DB9-CC1A4CC94469}"/>
              </a:ext>
            </a:extLst>
          </p:cNvPr>
          <p:cNvSpPr>
            <a:spLocks noGrp="1"/>
          </p:cNvSpPr>
          <p:nvPr>
            <p:ph type="title"/>
          </p:nvPr>
        </p:nvSpPr>
        <p:spPr>
          <a:xfrm>
            <a:off x="457200" y="-175482"/>
            <a:ext cx="8229600" cy="1143000"/>
          </a:xfrm>
        </p:spPr>
        <p:txBody>
          <a:bodyPr/>
          <a:lstStyle/>
          <a:p>
            <a:r>
              <a:rPr lang="en-US" dirty="0"/>
              <a:t>Class Evaluation Plot Graph</a:t>
            </a:r>
          </a:p>
        </p:txBody>
      </p:sp>
      <p:sp>
        <p:nvSpPr>
          <p:cNvPr id="4" name="Slide Number Placeholder 3">
            <a:extLst>
              <a:ext uri="{FF2B5EF4-FFF2-40B4-BE49-F238E27FC236}">
                <a16:creationId xmlns:a16="http://schemas.microsoft.com/office/drawing/2014/main" id="{003072F7-30F8-05BE-14C3-090C44D0DB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164802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0227-F9A9-CC67-8B91-E70C3FCE1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96D1-92AE-BA35-6953-97B5F3EBB2E2}"/>
              </a:ext>
            </a:extLst>
          </p:cNvPr>
          <p:cNvSpPr>
            <a:spLocks noGrp="1"/>
          </p:cNvSpPr>
          <p:nvPr>
            <p:ph type="title"/>
          </p:nvPr>
        </p:nvSpPr>
        <p:spPr>
          <a:xfrm>
            <a:off x="457200" y="509360"/>
            <a:ext cx="8229600" cy="1143000"/>
          </a:xfrm>
        </p:spPr>
        <p:txBody>
          <a:bodyPr/>
          <a:lstStyle/>
          <a:p>
            <a:r>
              <a:rPr lang="en-US" dirty="0">
                <a:latin typeface="Times New Roman" panose="02020603050405020304" pitchFamily="18" charset="0"/>
                <a:cs typeface="Times New Roman" panose="02020603050405020304" pitchFamily="18" charset="0"/>
              </a:rPr>
              <a:t>Binary Class F1 Score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34550706-BB25-F7A9-4FA2-7BA5DCF29D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10" name="Picture 9">
            <a:extLst>
              <a:ext uri="{FF2B5EF4-FFF2-40B4-BE49-F238E27FC236}">
                <a16:creationId xmlns:a16="http://schemas.microsoft.com/office/drawing/2014/main" id="{14F25D5B-04C2-DB3F-740B-B5A46955091E}"/>
              </a:ext>
            </a:extLst>
          </p:cNvPr>
          <p:cNvPicPr>
            <a:picLocks noChangeAspect="1"/>
          </p:cNvPicPr>
          <p:nvPr/>
        </p:nvPicPr>
        <p:blipFill>
          <a:blip r:embed="rId2"/>
          <a:srcRect t="4594" b="2758"/>
          <a:stretch>
            <a:fillRect/>
          </a:stretch>
        </p:blipFill>
        <p:spPr>
          <a:xfrm>
            <a:off x="80386" y="1652360"/>
            <a:ext cx="8792308" cy="4325258"/>
          </a:xfrm>
          <a:prstGeom prst="rect">
            <a:avLst/>
          </a:prstGeom>
        </p:spPr>
      </p:pic>
    </p:spTree>
    <p:extLst>
      <p:ext uri="{BB962C8B-B14F-4D97-AF65-F5344CB8AC3E}">
        <p14:creationId xmlns:p14="http://schemas.microsoft.com/office/powerpoint/2010/main" val="120605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FBF9-80C8-C635-B2AA-30AED4A82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55770-0BB0-08A0-9309-96DFD79E389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Binary Class Precision</a:t>
            </a:r>
          </a:p>
        </p:txBody>
      </p:sp>
      <p:sp>
        <p:nvSpPr>
          <p:cNvPr id="7" name="Slide Number Placeholder 6">
            <a:extLst>
              <a:ext uri="{FF2B5EF4-FFF2-40B4-BE49-F238E27FC236}">
                <a16:creationId xmlns:a16="http://schemas.microsoft.com/office/drawing/2014/main" id="{6F333D8B-8B3D-8BA3-F5AE-C2A0C6D676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13" name="Picture 12">
            <a:extLst>
              <a:ext uri="{FF2B5EF4-FFF2-40B4-BE49-F238E27FC236}">
                <a16:creationId xmlns:a16="http://schemas.microsoft.com/office/drawing/2014/main" id="{F2CC99F1-5232-35C1-3B84-74B6800DAF6C}"/>
              </a:ext>
            </a:extLst>
          </p:cNvPr>
          <p:cNvPicPr>
            <a:picLocks noChangeAspect="1"/>
          </p:cNvPicPr>
          <p:nvPr/>
        </p:nvPicPr>
        <p:blipFill>
          <a:blip r:embed="rId2"/>
          <a:srcRect l="2945" t="4711" r="650"/>
          <a:stretch>
            <a:fillRect/>
          </a:stretch>
        </p:blipFill>
        <p:spPr>
          <a:xfrm>
            <a:off x="457200" y="1296208"/>
            <a:ext cx="8229600" cy="5242704"/>
          </a:xfrm>
          <a:prstGeom prst="rect">
            <a:avLst/>
          </a:prstGeom>
        </p:spPr>
      </p:pic>
    </p:spTree>
    <p:extLst>
      <p:ext uri="{BB962C8B-B14F-4D97-AF65-F5344CB8AC3E}">
        <p14:creationId xmlns:p14="http://schemas.microsoft.com/office/powerpoint/2010/main" val="3720430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C3A1-01D5-77D3-D1F1-99D7C16E7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B2FE4-576C-C771-0051-706A35060D6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Binary Class Recall</a:t>
            </a:r>
          </a:p>
        </p:txBody>
      </p:sp>
      <p:sp>
        <p:nvSpPr>
          <p:cNvPr id="7" name="Slide Number Placeholder 6">
            <a:extLst>
              <a:ext uri="{FF2B5EF4-FFF2-40B4-BE49-F238E27FC236}">
                <a16:creationId xmlns:a16="http://schemas.microsoft.com/office/drawing/2014/main" id="{D2F20EC2-CE9E-16AF-D6E4-FFB8D778BD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13" name="Picture 12">
            <a:extLst>
              <a:ext uri="{FF2B5EF4-FFF2-40B4-BE49-F238E27FC236}">
                <a16:creationId xmlns:a16="http://schemas.microsoft.com/office/drawing/2014/main" id="{92EF8385-68E2-28F4-BB81-0D816A5E8368}"/>
              </a:ext>
            </a:extLst>
          </p:cNvPr>
          <p:cNvPicPr>
            <a:picLocks noChangeAspect="1"/>
          </p:cNvPicPr>
          <p:nvPr/>
        </p:nvPicPr>
        <p:blipFill>
          <a:blip r:embed="rId2"/>
          <a:srcRect l="2414" t="6142" r="2414"/>
          <a:stretch>
            <a:fillRect/>
          </a:stretch>
        </p:blipFill>
        <p:spPr>
          <a:xfrm>
            <a:off x="261256" y="1306286"/>
            <a:ext cx="8425543" cy="5202060"/>
          </a:xfrm>
          <a:prstGeom prst="rect">
            <a:avLst/>
          </a:prstGeom>
        </p:spPr>
      </p:pic>
    </p:spTree>
    <p:extLst>
      <p:ext uri="{BB962C8B-B14F-4D97-AF65-F5344CB8AC3E}">
        <p14:creationId xmlns:p14="http://schemas.microsoft.com/office/powerpoint/2010/main" val="299881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DCFFC-B2C6-62D5-2E12-3D21DBFAB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A817F-D86A-01A7-A9EF-B1F0D7882DF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Binary Class Accuracy</a:t>
            </a:r>
          </a:p>
        </p:txBody>
      </p:sp>
      <p:sp>
        <p:nvSpPr>
          <p:cNvPr id="7" name="Slide Number Placeholder 6">
            <a:extLst>
              <a:ext uri="{FF2B5EF4-FFF2-40B4-BE49-F238E27FC236}">
                <a16:creationId xmlns:a16="http://schemas.microsoft.com/office/drawing/2014/main" id="{C5492F86-4C4B-230D-7CFC-49B22BBFE8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descr="A graph of a bar graph&#10;&#10;AI-generated content may be incorrect.">
            <a:extLst>
              <a:ext uri="{FF2B5EF4-FFF2-40B4-BE49-F238E27FC236}">
                <a16:creationId xmlns:a16="http://schemas.microsoft.com/office/drawing/2014/main" id="{6A734436-A63B-880A-3587-AE964371534C}"/>
              </a:ext>
            </a:extLst>
          </p:cNvPr>
          <p:cNvPicPr>
            <a:picLocks noChangeAspect="1"/>
          </p:cNvPicPr>
          <p:nvPr/>
        </p:nvPicPr>
        <p:blipFill>
          <a:blip r:embed="rId2"/>
          <a:srcRect t="5249"/>
          <a:stretch>
            <a:fillRect/>
          </a:stretch>
        </p:blipFill>
        <p:spPr>
          <a:xfrm>
            <a:off x="579120" y="1198880"/>
            <a:ext cx="7731760" cy="5484345"/>
          </a:xfrm>
          <a:prstGeom prst="rect">
            <a:avLst/>
          </a:prstGeom>
        </p:spPr>
      </p:pic>
    </p:spTree>
    <p:extLst>
      <p:ext uri="{BB962C8B-B14F-4D97-AF65-F5344CB8AC3E}">
        <p14:creationId xmlns:p14="http://schemas.microsoft.com/office/powerpoint/2010/main" val="1936640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BDC4D-59EC-BFCD-EB5D-199782542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226D5-C945-1FFA-1D35-4051BD80F032}"/>
              </a:ext>
            </a:extLst>
          </p:cNvPr>
          <p:cNvSpPr>
            <a:spLocks noGrp="1"/>
          </p:cNvSpPr>
          <p:nvPr>
            <p:ph type="title"/>
          </p:nvPr>
        </p:nvSpPr>
        <p:spPr>
          <a:xfrm>
            <a:off x="457200" y="509360"/>
            <a:ext cx="8229600" cy="1143000"/>
          </a:xfrm>
        </p:spPr>
        <p:txBody>
          <a:bodyPr/>
          <a:lstStyle/>
          <a:p>
            <a:r>
              <a:rPr lang="en-US" dirty="0">
                <a:latin typeface="Times New Roman" panose="02020603050405020304" pitchFamily="18" charset="0"/>
                <a:cs typeface="Times New Roman" panose="02020603050405020304" pitchFamily="18" charset="0"/>
              </a:rPr>
              <a:t>Multi Class F1 Score </a:t>
            </a:r>
          </a:p>
        </p:txBody>
      </p:sp>
      <p:sp>
        <p:nvSpPr>
          <p:cNvPr id="7" name="Slide Number Placeholder 6">
            <a:extLst>
              <a:ext uri="{FF2B5EF4-FFF2-40B4-BE49-F238E27FC236}">
                <a16:creationId xmlns:a16="http://schemas.microsoft.com/office/drawing/2014/main" id="{90FC19A1-4E66-5D67-C9EE-DCB552667D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10" name="Picture 9">
            <a:extLst>
              <a:ext uri="{FF2B5EF4-FFF2-40B4-BE49-F238E27FC236}">
                <a16:creationId xmlns:a16="http://schemas.microsoft.com/office/drawing/2014/main" id="{63980F7F-576D-E39E-7FAF-534B29445D8D}"/>
              </a:ext>
            </a:extLst>
          </p:cNvPr>
          <p:cNvPicPr>
            <a:picLocks noChangeAspect="1"/>
          </p:cNvPicPr>
          <p:nvPr/>
        </p:nvPicPr>
        <p:blipFill>
          <a:blip r:embed="rId2"/>
          <a:srcRect t="4449" b="182"/>
          <a:stretch>
            <a:fillRect/>
          </a:stretch>
        </p:blipFill>
        <p:spPr>
          <a:xfrm>
            <a:off x="80386" y="1513840"/>
            <a:ext cx="8792308" cy="5207634"/>
          </a:xfrm>
          <a:prstGeom prst="rect">
            <a:avLst/>
          </a:prstGeom>
        </p:spPr>
      </p:pic>
    </p:spTree>
    <p:extLst>
      <p:ext uri="{BB962C8B-B14F-4D97-AF65-F5344CB8AC3E}">
        <p14:creationId xmlns:p14="http://schemas.microsoft.com/office/powerpoint/2010/main" val="2893479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6584-58ED-CFD9-AA46-64A7141358E0}"/>
            </a:ext>
          </a:extLst>
        </p:cNvPr>
        <p:cNvGrpSpPr/>
        <p:nvPr/>
      </p:nvGrpSpPr>
      <p:grpSpPr>
        <a:xfrm>
          <a:off x="0" y="0"/>
          <a:ext cx="0" cy="0"/>
          <a:chOff x="0" y="0"/>
          <a:chExt cx="0" cy="0"/>
        </a:xfrm>
      </p:grpSpPr>
      <p:pic>
        <p:nvPicPr>
          <p:cNvPr id="8" name="Picture 7" descr="A graph of different colored bars&#10;&#10;AI-generated content may be incorrect.">
            <a:extLst>
              <a:ext uri="{FF2B5EF4-FFF2-40B4-BE49-F238E27FC236}">
                <a16:creationId xmlns:a16="http://schemas.microsoft.com/office/drawing/2014/main" id="{EFA07A0A-18B3-FC9E-D56C-82D1EDCEE4BA}"/>
              </a:ext>
            </a:extLst>
          </p:cNvPr>
          <p:cNvPicPr>
            <a:picLocks noChangeAspect="1"/>
          </p:cNvPicPr>
          <p:nvPr/>
        </p:nvPicPr>
        <p:blipFill>
          <a:blip r:embed="rId2"/>
          <a:srcRect l="1778" t="4326"/>
          <a:stretch>
            <a:fillRect/>
          </a:stretch>
        </p:blipFill>
        <p:spPr>
          <a:xfrm>
            <a:off x="81280" y="1417638"/>
            <a:ext cx="8981440" cy="5440362"/>
          </a:xfrm>
          <a:prstGeom prst="rect">
            <a:avLst/>
          </a:prstGeom>
        </p:spPr>
      </p:pic>
      <p:sp>
        <p:nvSpPr>
          <p:cNvPr id="2" name="Title 1">
            <a:extLst>
              <a:ext uri="{FF2B5EF4-FFF2-40B4-BE49-F238E27FC236}">
                <a16:creationId xmlns:a16="http://schemas.microsoft.com/office/drawing/2014/main" id="{C46E3B65-A0BD-70FB-F686-56C5DC7D4B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Multi Class Precision</a:t>
            </a:r>
          </a:p>
        </p:txBody>
      </p:sp>
      <p:sp>
        <p:nvSpPr>
          <p:cNvPr id="7" name="Slide Number Placeholder 6">
            <a:extLst>
              <a:ext uri="{FF2B5EF4-FFF2-40B4-BE49-F238E27FC236}">
                <a16:creationId xmlns:a16="http://schemas.microsoft.com/office/drawing/2014/main" id="{95255E8D-F6BA-A761-3044-276AF3F585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662712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746A8-C3CA-0D39-180F-F8BC8E7BF90C}"/>
            </a:ext>
          </a:extLst>
        </p:cNvPr>
        <p:cNvGrpSpPr/>
        <p:nvPr/>
      </p:nvGrpSpPr>
      <p:grpSpPr>
        <a:xfrm>
          <a:off x="0" y="0"/>
          <a:ext cx="0" cy="0"/>
          <a:chOff x="0" y="0"/>
          <a:chExt cx="0" cy="0"/>
        </a:xfrm>
      </p:grpSpPr>
      <p:pic>
        <p:nvPicPr>
          <p:cNvPr id="4" name="Picture 3" descr="A graph of different colored bars&#10;&#10;AI-generated content may be incorrect.">
            <a:extLst>
              <a:ext uri="{FF2B5EF4-FFF2-40B4-BE49-F238E27FC236}">
                <a16:creationId xmlns:a16="http://schemas.microsoft.com/office/drawing/2014/main" id="{783E4786-0D2A-A217-CC21-85EFBFA43180}"/>
              </a:ext>
            </a:extLst>
          </p:cNvPr>
          <p:cNvPicPr>
            <a:picLocks noChangeAspect="1"/>
          </p:cNvPicPr>
          <p:nvPr/>
        </p:nvPicPr>
        <p:blipFill>
          <a:blip r:embed="rId2"/>
          <a:srcRect l="1778" t="5449" b="-5449"/>
          <a:stretch>
            <a:fillRect/>
          </a:stretch>
        </p:blipFill>
        <p:spPr>
          <a:xfrm>
            <a:off x="81280" y="1417638"/>
            <a:ext cx="8981440" cy="5714682"/>
          </a:xfrm>
          <a:prstGeom prst="rect">
            <a:avLst/>
          </a:prstGeom>
        </p:spPr>
      </p:pic>
      <p:sp>
        <p:nvSpPr>
          <p:cNvPr id="2" name="Title 1">
            <a:extLst>
              <a:ext uri="{FF2B5EF4-FFF2-40B4-BE49-F238E27FC236}">
                <a16:creationId xmlns:a16="http://schemas.microsoft.com/office/drawing/2014/main" id="{453F6EE4-492D-10D4-4922-B549C223135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Multi Class Recall</a:t>
            </a:r>
          </a:p>
        </p:txBody>
      </p:sp>
      <p:sp>
        <p:nvSpPr>
          <p:cNvPr id="7" name="Slide Number Placeholder 6">
            <a:extLst>
              <a:ext uri="{FF2B5EF4-FFF2-40B4-BE49-F238E27FC236}">
                <a16:creationId xmlns:a16="http://schemas.microsoft.com/office/drawing/2014/main" id="{89402FFB-4756-A174-BD9D-0E3092C903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832427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4801B-21A3-B461-2003-171552E97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D3091-7556-20B3-9557-06559A32B4AC}"/>
              </a:ext>
            </a:extLst>
          </p:cNvPr>
          <p:cNvSpPr>
            <a:spLocks noGrp="1"/>
          </p:cNvSpPr>
          <p:nvPr>
            <p:ph type="title"/>
          </p:nvPr>
        </p:nvSpPr>
        <p:spPr>
          <a:xfrm>
            <a:off x="457200" y="-166063"/>
            <a:ext cx="8229600" cy="1143000"/>
          </a:xfrm>
        </p:spPr>
        <p:txBody>
          <a:bodyPr/>
          <a:lstStyle/>
          <a:p>
            <a:r>
              <a:rPr lang="en-US" dirty="0">
                <a:latin typeface="Times New Roman" panose="02020603050405020304" pitchFamily="18" charset="0"/>
                <a:cs typeface="Times New Roman" panose="02020603050405020304" pitchFamily="18" charset="0"/>
              </a:rPr>
              <a:t>Multi Class Accuracy</a:t>
            </a:r>
          </a:p>
        </p:txBody>
      </p:sp>
      <p:sp>
        <p:nvSpPr>
          <p:cNvPr id="7" name="Slide Number Placeholder 6">
            <a:extLst>
              <a:ext uri="{FF2B5EF4-FFF2-40B4-BE49-F238E27FC236}">
                <a16:creationId xmlns:a16="http://schemas.microsoft.com/office/drawing/2014/main" id="{55EA170A-F588-55D6-9EB5-EC3CF6F9E3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Picture 4" descr="A graph of a bar graph&#10;&#10;AI-generated content may be incorrect.">
            <a:extLst>
              <a:ext uri="{FF2B5EF4-FFF2-40B4-BE49-F238E27FC236}">
                <a16:creationId xmlns:a16="http://schemas.microsoft.com/office/drawing/2014/main" id="{60085194-FDE4-0445-1FA6-8667622AE0DC}"/>
              </a:ext>
            </a:extLst>
          </p:cNvPr>
          <p:cNvPicPr>
            <a:picLocks noChangeAspect="1"/>
          </p:cNvPicPr>
          <p:nvPr/>
        </p:nvPicPr>
        <p:blipFill>
          <a:blip r:embed="rId2"/>
          <a:srcRect t="6321"/>
          <a:stretch>
            <a:fillRect/>
          </a:stretch>
        </p:blipFill>
        <p:spPr>
          <a:xfrm>
            <a:off x="1043937" y="844857"/>
            <a:ext cx="7056126" cy="5876618"/>
          </a:xfrm>
          <a:prstGeom prst="rect">
            <a:avLst/>
          </a:prstGeom>
        </p:spPr>
      </p:pic>
    </p:spTree>
    <p:extLst>
      <p:ext uri="{BB962C8B-B14F-4D97-AF65-F5344CB8AC3E}">
        <p14:creationId xmlns:p14="http://schemas.microsoft.com/office/powerpoint/2010/main" val="3155631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blue squares&#10;&#10;AI-generated content may be incorrect.">
            <a:extLst>
              <a:ext uri="{FF2B5EF4-FFF2-40B4-BE49-F238E27FC236}">
                <a16:creationId xmlns:a16="http://schemas.microsoft.com/office/drawing/2014/main" id="{D5C06183-3FC9-C505-1195-1531B2769C3A}"/>
              </a:ext>
            </a:extLst>
          </p:cNvPr>
          <p:cNvPicPr>
            <a:picLocks noChangeAspect="1"/>
          </p:cNvPicPr>
          <p:nvPr/>
        </p:nvPicPr>
        <p:blipFill>
          <a:blip r:embed="rId2"/>
          <a:stretch>
            <a:fillRect/>
          </a:stretch>
        </p:blipFill>
        <p:spPr>
          <a:xfrm>
            <a:off x="792472" y="846138"/>
            <a:ext cx="8006088" cy="6004566"/>
          </a:xfrm>
          <a:prstGeom prst="rect">
            <a:avLst/>
          </a:prstGeom>
        </p:spPr>
      </p:pic>
      <p:sp>
        <p:nvSpPr>
          <p:cNvPr id="2" name="Title 1">
            <a:extLst>
              <a:ext uri="{FF2B5EF4-FFF2-40B4-BE49-F238E27FC236}">
                <a16:creationId xmlns:a16="http://schemas.microsoft.com/office/drawing/2014/main" id="{C7760E89-E41E-AEC5-1005-228D704F1B64}"/>
              </a:ext>
            </a:extLst>
          </p:cNvPr>
          <p:cNvSpPr>
            <a:spLocks noGrp="1"/>
          </p:cNvSpPr>
          <p:nvPr>
            <p:ph type="title"/>
          </p:nvPr>
        </p:nvSpPr>
        <p:spPr>
          <a:xfrm>
            <a:off x="457200" y="136525"/>
            <a:ext cx="8229600" cy="1143000"/>
          </a:xfrm>
        </p:spPr>
        <p:txBody>
          <a:bodyPr/>
          <a:lstStyle/>
          <a:p>
            <a:r>
              <a:rPr lang="en-US" dirty="0">
                <a:latin typeface="Times New Roman" panose="02020603050405020304" pitchFamily="18" charset="0"/>
                <a:cs typeface="Times New Roman" panose="02020603050405020304" pitchFamily="18" charset="0"/>
              </a:rPr>
              <a:t>Multi Class Confusion Matrix</a:t>
            </a:r>
          </a:p>
        </p:txBody>
      </p:sp>
      <p:sp>
        <p:nvSpPr>
          <p:cNvPr id="4" name="Slide Number Placeholder 3">
            <a:extLst>
              <a:ext uri="{FF2B5EF4-FFF2-40B4-BE49-F238E27FC236}">
                <a16:creationId xmlns:a16="http://schemas.microsoft.com/office/drawing/2014/main" id="{1AD57DB6-6AD4-49AC-1E45-D64C252430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3852727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1C69F-8C3A-1B0E-8C26-A21AAF799ED7}"/>
            </a:ext>
          </a:extLst>
        </p:cNvPr>
        <p:cNvGrpSpPr/>
        <p:nvPr/>
      </p:nvGrpSpPr>
      <p:grpSpPr>
        <a:xfrm>
          <a:off x="0" y="0"/>
          <a:ext cx="0" cy="0"/>
          <a:chOff x="0" y="0"/>
          <a:chExt cx="0" cy="0"/>
        </a:xfrm>
      </p:grpSpPr>
      <p:pic>
        <p:nvPicPr>
          <p:cNvPr id="5" name="Picture 4" descr="A graph of a function&#10;&#10;AI-generated content may be incorrect.">
            <a:extLst>
              <a:ext uri="{FF2B5EF4-FFF2-40B4-BE49-F238E27FC236}">
                <a16:creationId xmlns:a16="http://schemas.microsoft.com/office/drawing/2014/main" id="{A3472A79-8EEF-AE57-3829-6C5C4D32933C}"/>
              </a:ext>
            </a:extLst>
          </p:cNvPr>
          <p:cNvPicPr>
            <a:picLocks noChangeAspect="1"/>
          </p:cNvPicPr>
          <p:nvPr/>
        </p:nvPicPr>
        <p:blipFill>
          <a:blip r:embed="rId2"/>
          <a:stretch>
            <a:fillRect/>
          </a:stretch>
        </p:blipFill>
        <p:spPr>
          <a:xfrm>
            <a:off x="141475" y="609600"/>
            <a:ext cx="8545325" cy="6248400"/>
          </a:xfrm>
          <a:prstGeom prst="rect">
            <a:avLst/>
          </a:prstGeom>
        </p:spPr>
      </p:pic>
      <p:sp>
        <p:nvSpPr>
          <p:cNvPr id="2" name="Title 1">
            <a:extLst>
              <a:ext uri="{FF2B5EF4-FFF2-40B4-BE49-F238E27FC236}">
                <a16:creationId xmlns:a16="http://schemas.microsoft.com/office/drawing/2014/main" id="{DF18EEC1-4B1B-400E-DE7C-21F7C792F8AC}"/>
              </a:ext>
            </a:extLst>
          </p:cNvPr>
          <p:cNvSpPr>
            <a:spLocks noGrp="1"/>
          </p:cNvSpPr>
          <p:nvPr>
            <p:ph type="title"/>
          </p:nvPr>
        </p:nvSpPr>
        <p:spPr>
          <a:xfrm>
            <a:off x="457200" y="136525"/>
            <a:ext cx="8229600" cy="1143000"/>
          </a:xfrm>
        </p:spPr>
        <p:txBody>
          <a:bodyPr/>
          <a:lstStyle/>
          <a:p>
            <a:r>
              <a:rPr lang="en-US" dirty="0">
                <a:latin typeface="Times New Roman" panose="02020603050405020304" pitchFamily="18" charset="0"/>
                <a:cs typeface="Times New Roman" panose="02020603050405020304" pitchFamily="18" charset="0"/>
              </a:rPr>
              <a:t>Multi Class ROC Curves</a:t>
            </a:r>
          </a:p>
        </p:txBody>
      </p:sp>
      <p:sp>
        <p:nvSpPr>
          <p:cNvPr id="4" name="Slide Number Placeholder 3">
            <a:extLst>
              <a:ext uri="{FF2B5EF4-FFF2-40B4-BE49-F238E27FC236}">
                <a16:creationId xmlns:a16="http://schemas.microsoft.com/office/drawing/2014/main" id="{9A6AE31D-6A15-1AA0-DF93-90E44FC5C1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1292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Scope</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F9F350FD-10FD-3CC5-8CD5-633A7FC16BBE}"/>
              </a:ext>
            </a:extLst>
          </p:cNvPr>
          <p:cNvSpPr>
            <a:spLocks noGrp="1" noChangeArrowheads="1"/>
          </p:cNvSpPr>
          <p:nvPr>
            <p:ph idx="1"/>
          </p:nvPr>
        </p:nvSpPr>
        <p:spPr bwMode="auto">
          <a:xfrm>
            <a:off x="609600" y="1410531"/>
            <a:ext cx="8153400" cy="4323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800" dirty="0">
                <a:latin typeface="Times New Roman" panose="02020603050405020304" pitchFamily="18" charset="0"/>
                <a:ea typeface="Tahoma" panose="020B0604030504040204" pitchFamily="34" charset="0"/>
                <a:cs typeface="Times New Roman" panose="02020603050405020304" pitchFamily="18" charset="0"/>
              </a:rPr>
              <a:t>Identify unusual activities in IoT network traffic.</a:t>
            </a:r>
          </a:p>
          <a:p>
            <a:pPr>
              <a:lnSpc>
                <a:spcPct val="150000"/>
              </a:lnSpc>
            </a:pPr>
            <a:r>
              <a:rPr lang="en-US" sz="2800" dirty="0">
                <a:latin typeface="Times New Roman" panose="02020603050405020304" pitchFamily="18" charset="0"/>
                <a:ea typeface="Tahoma" panose="020B0604030504040204" pitchFamily="34" charset="0"/>
                <a:cs typeface="Times New Roman" panose="02020603050405020304" pitchFamily="18" charset="0"/>
              </a:rPr>
              <a:t>Use GANs to address data imbalance.</a:t>
            </a:r>
          </a:p>
          <a:p>
            <a:pPr>
              <a:lnSpc>
                <a:spcPct val="150000"/>
              </a:lnSpc>
            </a:pPr>
            <a:r>
              <a:rPr lang="en-US" sz="2800" dirty="0">
                <a:latin typeface="Times New Roman" panose="02020603050405020304" pitchFamily="18" charset="0"/>
                <a:ea typeface="Tahoma" panose="020B0604030504040204" pitchFamily="34" charset="0"/>
                <a:cs typeface="Times New Roman" panose="02020603050405020304" pitchFamily="18" charset="0"/>
              </a:rPr>
              <a:t>Clean and prepare network traffic data.</a:t>
            </a:r>
          </a:p>
          <a:p>
            <a:pPr>
              <a:lnSpc>
                <a:spcPct val="150000"/>
              </a:lnSpc>
            </a:pPr>
            <a:r>
              <a:rPr lang="en-US" sz="2800" dirty="0">
                <a:latin typeface="Times New Roman" panose="02020603050405020304" pitchFamily="18" charset="0"/>
                <a:ea typeface="Tahoma" panose="020B0604030504040204" pitchFamily="34" charset="0"/>
                <a:cs typeface="Times New Roman" panose="02020603050405020304" pitchFamily="18" charset="0"/>
              </a:rPr>
              <a:t>Display traffic patterns and detection outcomes.</a:t>
            </a:r>
          </a:p>
          <a:p>
            <a:pPr>
              <a:lnSpc>
                <a:spcPct val="150000"/>
              </a:lnSpc>
            </a:pPr>
            <a:r>
              <a:rPr lang="en-US" sz="2800" dirty="0">
                <a:latin typeface="Times New Roman" panose="02020603050405020304" pitchFamily="18" charset="0"/>
                <a:ea typeface="Tahoma" panose="020B0604030504040204" pitchFamily="34" charset="0"/>
                <a:cs typeface="Times New Roman" panose="02020603050405020304" pitchFamily="18" charset="0"/>
              </a:rPr>
              <a:t>An interactive full Web Application.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2BED-4196-47D2-646D-BEF5D534BD64}"/>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Fully Dressed Use Case(Main Use Case)</a:t>
            </a:r>
            <a:endParaRPr lang="en-US" dirty="0"/>
          </a:p>
        </p:txBody>
      </p:sp>
      <p:sp>
        <p:nvSpPr>
          <p:cNvPr id="3" name="Text Placeholder 2">
            <a:extLst>
              <a:ext uri="{FF2B5EF4-FFF2-40B4-BE49-F238E27FC236}">
                <a16:creationId xmlns:a16="http://schemas.microsoft.com/office/drawing/2014/main" id="{B9EE9FA3-DD8B-EFAF-4CAF-DE72BFD0F3CD}"/>
              </a:ext>
            </a:extLst>
          </p:cNvPr>
          <p:cNvSpPr>
            <a:spLocks noGrp="1"/>
          </p:cNvSpPr>
          <p:nvPr>
            <p:ph type="body" idx="1"/>
          </p:nvPr>
        </p:nvSpPr>
        <p:spPr/>
        <p:txBody>
          <a:bodyPr/>
          <a:lstStyle/>
          <a:p>
            <a:r>
              <a:rPr lang="en-US" sz="3600" dirty="0">
                <a:latin typeface="Times New Roman" panose="02020603050405020304" pitchFamily="18" charset="0"/>
                <a:cs typeface="Times New Roman" panose="02020603050405020304" pitchFamily="18" charset="0"/>
              </a:rPr>
              <a:t>Login</a:t>
            </a:r>
          </a:p>
          <a:p>
            <a:r>
              <a:rPr lang="en-US" sz="3600" dirty="0">
                <a:latin typeface="Times New Roman" panose="02020603050405020304" pitchFamily="18" charset="0"/>
                <a:cs typeface="Times New Roman" panose="02020603050405020304" pitchFamily="18" charset="0"/>
              </a:rPr>
              <a:t>Preprocessing</a:t>
            </a:r>
          </a:p>
          <a:p>
            <a:r>
              <a:rPr lang="en-US" sz="3600" dirty="0">
                <a:latin typeface="Times New Roman" panose="02020603050405020304" pitchFamily="18" charset="0"/>
                <a:cs typeface="Times New Roman" panose="02020603050405020304" pitchFamily="18" charset="0"/>
              </a:rPr>
              <a:t>Data Visualization </a:t>
            </a:r>
          </a:p>
          <a:p>
            <a:r>
              <a:rPr lang="en-US" sz="3600" dirty="0">
                <a:latin typeface="Times New Roman" panose="02020603050405020304" pitchFamily="18" charset="0"/>
                <a:cs typeface="Times New Roman" panose="02020603050405020304" pitchFamily="18" charset="0"/>
              </a:rPr>
              <a:t>Data Balancing</a:t>
            </a:r>
          </a:p>
          <a:p>
            <a:r>
              <a:rPr lang="en-US" sz="3600" dirty="0">
                <a:latin typeface="Times New Roman" panose="02020603050405020304" pitchFamily="18" charset="0"/>
                <a:cs typeface="Times New Roman" panose="02020603050405020304" pitchFamily="18" charset="0"/>
              </a:rPr>
              <a:t>Intrusion Detection</a:t>
            </a:r>
          </a:p>
        </p:txBody>
      </p:sp>
      <p:sp>
        <p:nvSpPr>
          <p:cNvPr id="4" name="Slide Number Placeholder 3">
            <a:extLst>
              <a:ext uri="{FF2B5EF4-FFF2-40B4-BE49-F238E27FC236}">
                <a16:creationId xmlns:a16="http://schemas.microsoft.com/office/drawing/2014/main" id="{573C5DC5-0134-65C3-E4C3-7844CB2537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3819605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21BECD-3F3C-28FB-7882-FC38A67F73F1}"/>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a:lnSpc>
                <a:spcPct val="90000"/>
              </a:lnSpc>
              <a:spcBef>
                <a:spcPct val="0"/>
              </a:spcBef>
            </a:pPr>
            <a:r>
              <a:rPr lang="en-US" sz="6300" b="1" kern="1200" dirty="0">
                <a:solidFill>
                  <a:schemeClr val="tx1"/>
                </a:solidFill>
                <a:latin typeface="Times New Roman" panose="02020603050405020304" pitchFamily="18" charset="0"/>
                <a:ea typeface="+mj-ea"/>
                <a:cs typeface="Times New Roman" panose="02020603050405020304" pitchFamily="18" charset="0"/>
              </a:rPr>
              <a:t>THANK YOU</a:t>
            </a:r>
          </a:p>
        </p:txBody>
      </p:sp>
      <p:sp>
        <p:nvSpPr>
          <p:cNvPr id="15" name="Rectangle 1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8B4D2DA-E9A9-74A1-9F81-143C87EDA1CE}"/>
              </a:ext>
            </a:extLst>
          </p:cNvPr>
          <p:cNvSpPr>
            <a:spLocks noGrp="1"/>
          </p:cNvSpPr>
          <p:nvPr>
            <p:ph type="sldNum" idx="12"/>
          </p:nvPr>
        </p:nvSpPr>
        <p:spPr>
          <a:xfrm>
            <a:off x="7866764" y="6356350"/>
            <a:ext cx="951613" cy="365125"/>
          </a:xfrm>
        </p:spPr>
        <p:txBody>
          <a:bodyPr vert="horz" lIns="91440" tIns="45720" rIns="91440" bIns="45720" rtlCol="0" anchor="ctr">
            <a:normAutofit/>
          </a:bodyPr>
          <a:lstStyle/>
          <a:p>
            <a:pPr lvl="0" indent="0">
              <a:spcBef>
                <a:spcPts val="0"/>
              </a:spcBef>
              <a:spcAft>
                <a:spcPts val="600"/>
              </a:spcAft>
              <a:buNone/>
            </a:pPr>
            <a:fld id="{00000000-1234-1234-1234-123412341234}" type="slidenum">
              <a:rPr lang="en-US" kern="1200">
                <a:solidFill>
                  <a:schemeClr val="tx1">
                    <a:lumMod val="50000"/>
                    <a:lumOff val="50000"/>
                  </a:schemeClr>
                </a:solidFill>
                <a:latin typeface="+mn-lt"/>
                <a:ea typeface="+mn-ea"/>
                <a:cs typeface="+mn-cs"/>
              </a:rPr>
              <a:pPr lvl="0" indent="0">
                <a:spcBef>
                  <a:spcPts val="0"/>
                </a:spcBef>
                <a:spcAft>
                  <a:spcPts val="600"/>
                </a:spcAft>
                <a:buNone/>
              </a:pPr>
              <a:t>20</a:t>
            </a:fld>
            <a:endParaRPr lang="en-US" kern="120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5750129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755</TotalTime>
  <Words>650</Words>
  <Application>Microsoft Office PowerPoint</Application>
  <PresentationFormat>On-screen Show (4:3)</PresentationFormat>
  <Paragraphs>80</Paragraphs>
  <Slides>20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Arial</vt:lpstr>
      <vt:lpstr>Times New Roman</vt:lpstr>
      <vt:lpstr>Office Theme</vt:lpstr>
      <vt:lpstr>PowerPoint Presentation</vt:lpstr>
      <vt:lpstr>INTERNET OF  THINGS (IoTs)</vt:lpstr>
      <vt:lpstr>INTRUSION DETECTION SYSTEM(IDS)</vt:lpstr>
      <vt:lpstr>Problem of Imbalanced Data</vt:lpstr>
      <vt:lpstr>Baseline GAN</vt:lpstr>
      <vt:lpstr>Proposed ReMWGAN-FM GAN</vt:lpstr>
      <vt:lpstr>Class Evaluation Plot Graph</vt:lpstr>
      <vt:lpstr>Binary Class F1 Score </vt:lpstr>
      <vt:lpstr>Binary Class Precision</vt:lpstr>
      <vt:lpstr>Binary Class Recall</vt:lpstr>
      <vt:lpstr>Binary Class Accuracy</vt:lpstr>
      <vt:lpstr>Multi Class F1 Score </vt:lpstr>
      <vt:lpstr>Multi Class Precision</vt:lpstr>
      <vt:lpstr>Multi Class Recall</vt:lpstr>
      <vt:lpstr>Multi Class Accuracy</vt:lpstr>
      <vt:lpstr>Multi Class Confusion Matrix</vt:lpstr>
      <vt:lpstr>Multi Class ROC Curves</vt:lpstr>
      <vt:lpstr>Scope</vt:lpstr>
      <vt:lpstr>Fully Dressed Use Case(Main Use Case)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Hamza Badar</dc:creator>
  <cp:lastModifiedBy>Mahad Wajid</cp:lastModifiedBy>
  <cp:revision>76</cp:revision>
  <dcterms:modified xsi:type="dcterms:W3CDTF">2025-08-21T07:50:18Z</dcterms:modified>
</cp:coreProperties>
</file>